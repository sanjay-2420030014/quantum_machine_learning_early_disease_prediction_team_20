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658368"/>
            <a:ext cx="3291840" cy="347472"/>
          </a:xfrm>
          <a:prstGeom prst="roundRect">
            <a:avLst/>
          </a:prstGeom>
          <a:solidFill>
            <a:srgbClr val="1A2939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3011"/>
            <a:ext cx="32918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48D6DA"/>
                </a:solidFill>
                <a:latin typeface="Aptos"/>
              </a:rPr>
              <a:t>QUANTUM MACHINE LEARNING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799" y="1325880"/>
            <a:ext cx="10673499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3400" b="1" dirty="0">
                <a:solidFill>
                  <a:srgbClr val="F2F5FA"/>
                </a:solidFill>
                <a:latin typeface="Aptos"/>
              </a:rPr>
              <a:t>Quantum Machine Learning Early Disease Prediction Presentation</a:t>
            </a:r>
            <a:endParaRPr sz="3400" b="1" dirty="0">
              <a:solidFill>
                <a:srgbClr val="F2F5F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2907792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EBBD0"/>
                </a:solidFill>
                <a:latin typeface="Aptos"/>
              </a:rPr>
              <a:t>A hybrid classical–quantum kernel learning framework using PCA, Fidelity Quantum Kernel and QSVC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977639"/>
            <a:ext cx="3154680" cy="123444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33087"/>
            <a:ext cx="27523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8D6DA"/>
                </a:solidFill>
                <a:latin typeface="Aptos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44568"/>
            <a:ext cx="2752344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2F5FA"/>
                </a:solidFill>
                <a:latin typeface="Aptos"/>
              </a:rPr>
              <a:t>UCI Heart Disease
Cleveland • 303 instances • 13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3977639"/>
            <a:ext cx="3154680" cy="123444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70248" y="4133087"/>
            <a:ext cx="27523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B7CFF"/>
                </a:solidFill>
                <a:latin typeface="Aptos"/>
              </a:rPr>
              <a:t>QUANTUM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4544568"/>
            <a:ext cx="2752344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2F5FA"/>
                </a:solidFill>
                <a:latin typeface="Aptos"/>
              </a:rPr>
              <a:t>4-feature PCA representation
ZZFeatureMap + FidelityQuantumKernel + QSVC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3977639"/>
            <a:ext cx="3611880" cy="123444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26096" y="4133087"/>
            <a:ext cx="3209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3DC9D"/>
                </a:solidFill>
                <a:latin typeface="Aptos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6096" y="4544568"/>
            <a:ext cx="3209544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2F5FA"/>
                </a:solidFill>
                <a:latin typeface="Aptos"/>
              </a:rPr>
              <a:t>Binary classification:
No Heart Disease / Heart Disease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73124"/>
            <a:ext cx="50292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rPr lang="en-IN" sz="1400" dirty="0"/>
              <a:t>V. Sanjay Bhaargav — 2420030014</a:t>
            </a:r>
            <a:br>
              <a:rPr lang="en-IN" sz="1400" dirty="0"/>
            </a:br>
            <a:r>
              <a:rPr lang="en-IN" sz="1400" dirty="0"/>
              <a:t>P. Rahul — 2420030368</a:t>
            </a:r>
            <a:br>
              <a:rPr lang="en-IN" sz="1400" dirty="0"/>
            </a:br>
            <a:r>
              <a:rPr lang="en-IN" sz="1400" dirty="0"/>
              <a:t>M.V.S Aasrith — 2420030573</a:t>
            </a:r>
            <a:br>
              <a:rPr lang="en-IN" sz="1400" dirty="0"/>
            </a:br>
            <a:r>
              <a:rPr lang="en-IN" sz="1400" dirty="0"/>
              <a:t>Guide: Dr. </a:t>
            </a:r>
            <a:r>
              <a:rPr lang="en-IN" sz="1400" dirty="0" err="1"/>
              <a:t>Siripuri</a:t>
            </a:r>
            <a:r>
              <a:rPr lang="en-IN" sz="1400" dirty="0"/>
              <a:t> Divya, Assistant Professor, Department of CSE, KLEF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8978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AEBBD0"/>
                </a:solidFill>
                <a:latin typeface="Aptos"/>
              </a:rPr>
              <a:t>Conference Project Presentation •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Why explore quantum kernels for disease classification?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29000" cy="356616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847088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8D6DA"/>
                </a:solidFill>
                <a:latin typeface="Aptos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58568"/>
            <a:ext cx="3026664" cy="2871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A"/>
                </a:solidFill>
                <a:latin typeface="Aptos"/>
              </a:rPr>
              <a:t>Medical datasets often contain mixed feature scales and nonlinear relationships. A useful classifier must handle preprocessing, dimensionality, and class separation in a reproducible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29000" cy="356616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847088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B7CFF"/>
                </a:solidFill>
                <a:latin typeface="Aptos"/>
              </a:rPr>
              <a:t>OUR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58568"/>
            <a:ext cx="3026664" cy="2871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A"/>
                </a:solidFill>
                <a:latin typeface="Aptos"/>
              </a:rPr>
              <a:t>Build a controlled hybrid pipeline: classical preprocessing → low-dimensional representation → quantum feature mapping → quantum-kernel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691640"/>
            <a:ext cx="3429000" cy="356616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847088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3DC9D"/>
                </a:solidFill>
                <a:latin typeface="Aptos"/>
              </a:rPr>
              <a:t>RESEARCH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258568"/>
            <a:ext cx="3026664" cy="2871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A"/>
                </a:solidFill>
                <a:latin typeface="Aptos"/>
              </a:rPr>
              <a:t>Can a Fidelity Quantum Kernel + QSVC provide a practical classification workflow for heart-disease data after dimensionality reduction?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2. Dataset &amp;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UCI Heart Disease — Cleveland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029200" cy="416052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847088"/>
            <a:ext cx="46268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8D6DA"/>
                </a:solidFill>
                <a:latin typeface="Aptos"/>
              </a:rPr>
              <a:t>DATASET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58568"/>
            <a:ext cx="4626864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2F5FA"/>
                </a:solidFill>
                <a:latin typeface="Aptos"/>
              </a:rPr>
              <a:t>• 303 patient records
• 13 input features
• Classification task
• Mixed categorical, integer and real-valued features
• Original target: 0–4
• For this project: binary target
  0 → No heart disease
  1 → Heart disease present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691640"/>
            <a:ext cx="5394960" cy="1874519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9048" y="1847088"/>
            <a:ext cx="4992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B7CFF"/>
                </a:solidFill>
                <a:latin typeface="Aptos"/>
              </a:rPr>
              <a:t>REPRESENTATIVE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8" y="2258568"/>
            <a:ext cx="4992624" cy="1179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5FA"/>
                </a:solidFill>
                <a:latin typeface="Aptos"/>
              </a:rPr>
              <a:t>Age • Sex • Chest pain type • Resting blood pressure • Cholesterol • Maximum heart rate • Exercise-induced angina • ST depression • Slope • CA • Thal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3794760"/>
            <a:ext cx="5394960" cy="205740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9048" y="3950208"/>
            <a:ext cx="4992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3DC9D"/>
                </a:solidFill>
                <a:latin typeface="Aptos"/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4361688"/>
            <a:ext cx="4992624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5FA"/>
                </a:solidFill>
                <a:latin typeface="Aptos"/>
              </a:rPr>
              <a:t>Missing values are converted to numeric NaN and imputed using feature medians. The target is converted to binary presence/absence before train-test splitting.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3. Proposed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End-to-end hybrid classical–quantum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417320" cy="1143000"/>
          </a:xfrm>
          <a:prstGeom prst="roundRect">
            <a:avLst/>
          </a:prstGeom>
          <a:solidFill>
            <a:srgbClr val="141C2E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2221992"/>
            <a:ext cx="1271016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UCI Heart
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2148840"/>
            <a:ext cx="1417320" cy="1143000"/>
          </a:xfrm>
          <a:prstGeom prst="roundRect">
            <a:avLst/>
          </a:prstGeom>
          <a:solidFill>
            <a:srgbClr val="141C2E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04872" y="2221992"/>
            <a:ext cx="1271016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Cleaning +
80:20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2148840"/>
            <a:ext cx="1417320" cy="1143000"/>
          </a:xfrm>
          <a:prstGeom prst="roundRect">
            <a:avLst/>
          </a:prstGeom>
          <a:solidFill>
            <a:srgbClr val="141C2E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42232" y="2221992"/>
            <a:ext cx="1271016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Standardize
13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2148840"/>
            <a:ext cx="1417320" cy="1143000"/>
          </a:xfrm>
          <a:prstGeom prst="roundRect">
            <a:avLst/>
          </a:prstGeom>
          <a:solidFill>
            <a:srgbClr val="141C2E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9592" y="2221992"/>
            <a:ext cx="1271016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PCA
13 →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148840"/>
            <a:ext cx="1417320" cy="1143000"/>
          </a:xfrm>
          <a:prstGeom prst="roundRect">
            <a:avLst/>
          </a:prstGeom>
          <a:solidFill>
            <a:srgbClr val="141C2E"/>
          </a:solidFill>
          <a:ln>
            <a:solidFill>
              <a:srgbClr val="FFB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16952" y="2221992"/>
            <a:ext cx="1271016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Quantum
Kernel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148840"/>
            <a:ext cx="1417320" cy="1143000"/>
          </a:xfrm>
          <a:prstGeom prst="roundRect">
            <a:avLst/>
          </a:prstGeom>
          <a:solidFill>
            <a:srgbClr val="141C2E"/>
          </a:solidFill>
          <a:ln>
            <a:solidFill>
              <a:srgbClr val="6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54312" y="2221992"/>
            <a:ext cx="1271016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QSVC +
Evaluation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1680" y="2724912"/>
            <a:ext cx="320040" cy="0"/>
          </a:xfrm>
          <a:prstGeom prst="line">
            <a:avLst/>
          </a:prstGeom>
          <a:ln w="2540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49039" y="2724912"/>
            <a:ext cx="320041" cy="0"/>
          </a:xfrm>
          <a:prstGeom prst="line">
            <a:avLst/>
          </a:prstGeom>
          <a:ln w="2540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0" y="2724912"/>
            <a:ext cx="320040" cy="0"/>
          </a:xfrm>
          <a:prstGeom prst="line">
            <a:avLst/>
          </a:prstGeom>
          <a:ln w="2540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23759" y="2724912"/>
            <a:ext cx="320041" cy="0"/>
          </a:xfrm>
          <a:prstGeom prst="line">
            <a:avLst/>
          </a:prstGeom>
          <a:ln w="2540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61120" y="2724912"/>
            <a:ext cx="320040" cy="0"/>
          </a:xfrm>
          <a:prstGeom prst="line">
            <a:avLst/>
          </a:prstGeom>
          <a:ln w="2540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0120" y="3977639"/>
            <a:ext cx="10058400" cy="132588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61288" y="4133087"/>
            <a:ext cx="96560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B15C"/>
                </a:solidFill>
                <a:latin typeface="Aptos"/>
              </a:rPr>
              <a:t>QUANTUM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4544568"/>
            <a:ext cx="9656064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5FA"/>
                </a:solidFill>
                <a:latin typeface="Aptos"/>
              </a:rPr>
              <a:t>4 PCA components → 4-dimensional quantum feature representation → ZZFeatureMap → FidelityQuantumKernel → QSVC. The kernel evaluates state overlap and supplies the similarity structure used by the classifier.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4.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Five controlled stages from raw data to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02920" cy="347472"/>
          </a:xfrm>
          <a:prstGeom prst="roundRect">
            <a:avLst/>
          </a:prstGeom>
          <a:solidFill>
            <a:srgbClr val="1A2939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8D6DA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91056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Aptos"/>
              </a:rPr>
              <a:t>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591056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EBBD0"/>
                </a:solidFill>
                <a:latin typeface="Aptos"/>
              </a:rPr>
              <a:t>Load Cleveland data; convert missing entries; median imputation; binary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96312"/>
            <a:ext cx="502920" cy="347472"/>
          </a:xfrm>
          <a:prstGeom prst="roundRect">
            <a:avLst/>
          </a:prstGeom>
          <a:solidFill>
            <a:srgbClr val="1A2939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523744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8D6DA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8716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Aptos"/>
              </a:rPr>
              <a:t>Feature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48716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EBBD0"/>
                </a:solidFill>
                <a:latin typeface="Aptos"/>
              </a:rPr>
              <a:t>StandardScaler fitted only on training data; same transformation applied to test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92424"/>
            <a:ext cx="502920" cy="347472"/>
          </a:xfrm>
          <a:prstGeom prst="roundRect">
            <a:avLst/>
          </a:prstGeom>
          <a:solidFill>
            <a:srgbClr val="1A2939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419856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8D6DA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832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Aptos"/>
              </a:rPr>
              <a:t>Dimensionality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3832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EBBD0"/>
                </a:solidFill>
                <a:latin typeface="Aptos"/>
              </a:rPr>
              <a:t>PCA compresses 13 features to 4 components for the quantum representation.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88536"/>
            <a:ext cx="502920" cy="347472"/>
          </a:xfrm>
          <a:prstGeom prst="roundRect">
            <a:avLst/>
          </a:prstGeom>
          <a:solidFill>
            <a:srgbClr val="1A2939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315968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B7C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7939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Aptos"/>
              </a:rPr>
              <a:t>Quantum 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279392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EBBD0"/>
                </a:solidFill>
                <a:latin typeface="Aptos"/>
              </a:rPr>
              <a:t>ZZFeatureMap + FidelityQuantumKernel + QSVC.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84648"/>
            <a:ext cx="502920" cy="347472"/>
          </a:xfrm>
          <a:prstGeom prst="roundRect">
            <a:avLst/>
          </a:prstGeom>
          <a:solidFill>
            <a:srgbClr val="1A2939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B7CFF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17550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2F5FA"/>
                </a:solidFill>
                <a:latin typeface="Aptos"/>
              </a:rP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5175504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EBBD0"/>
                </a:solidFill>
                <a:latin typeface="Aptos"/>
              </a:rPr>
              <a:t>Accuracy, precision, recall, F1-score and confusion matrix.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5. Quantum Machine Learning 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How the quantum kernel enters the classifier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37560" cy="420624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55648"/>
            <a:ext cx="29352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8D6DA"/>
                </a:solidFill>
                <a:latin typeface="Aptos"/>
              </a:rPr>
              <a:t>QUANTUM FEATURE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67128"/>
            <a:ext cx="2935224" cy="3511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A"/>
                </a:solidFill>
                <a:latin typeface="Aptos"/>
              </a:rPr>
              <a:t>The four PCA components are encoded into a 4-qubit ZZFeatureMap.
The circuit creates a quantum representation φ(x) of each classical input vector.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00200"/>
            <a:ext cx="3337560" cy="420624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1755648"/>
            <a:ext cx="29352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15C"/>
                </a:solidFill>
                <a:latin typeface="Aptos"/>
              </a:rPr>
              <a:t>FIDELITY QUANTUM KERNEL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167128"/>
            <a:ext cx="2935224" cy="3511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2F5FA"/>
                </a:solidFill>
                <a:latin typeface="Aptos"/>
              </a:rPr>
              <a:t>For two encoded states, the kernel is based on their state overlap:
K(x,y) = |⟨φ(x)|φ(y)⟩|²
This produces a similarity measure for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600200"/>
            <a:ext cx="3337560" cy="420624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75904" y="1755648"/>
            <a:ext cx="29352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B7CFF"/>
                </a:solidFill>
                <a:latin typeface="Aptos"/>
              </a:rPr>
              <a:t>QSVC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167128"/>
            <a:ext cx="2935224" cy="3511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A"/>
                </a:solidFill>
                <a:latin typeface="Aptos"/>
              </a:rPr>
              <a:t>QSVC extends the classical SVC workflow by accepting a quantum kernel.
It uses the resulting kernel similarities to separate the two disease classes.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6. Classical Baseline vs Quantum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Why include a classical SVC?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074920" cy="402336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801368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8D6DA"/>
                </a:solidFill>
                <a:latin typeface="Aptos"/>
              </a:rPr>
              <a:t>CLASSICAL SVC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12848"/>
            <a:ext cx="4672583" cy="3328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2F5FA"/>
                </a:solidFill>
                <a:latin typeface="Aptos"/>
              </a:rPr>
              <a:t>Input: 4 PCA components
Kernel: RBF
Training: fixed 120-sample subset
Role: baseline reference
The baseline establishes how the same reduced feature representation performs without the quantum kernel.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645920"/>
            <a:ext cx="5074920" cy="402336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0488" y="1801368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9B7CFF"/>
                </a:solidFill>
                <a:latin typeface="Aptos"/>
              </a:rPr>
              <a:t>QUANTUM QSVC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2212848"/>
            <a:ext cx="4672583" cy="3328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2F5FA"/>
                </a:solidFill>
                <a:latin typeface="Aptos"/>
              </a:rPr>
              <a:t>Input: same 4 PCA components
Kernel: FidelityQuantumKernel
Training: same fixed 120-sample subset
Role: quantum-kernel experiment
The same 61-sample held-out test set is used for both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7.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Python + scikit-learn + Qiskit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438912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09928"/>
            <a:ext cx="49011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8D6DA"/>
                </a:solidFill>
                <a:latin typeface="Aptos"/>
              </a:rPr>
              <a:t>SOFTWARE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21408"/>
            <a:ext cx="4901183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A"/>
                </a:solidFill>
                <a:latin typeface="Aptos"/>
              </a:rPr>
              <a:t>Python
Pandas / NumPy — data handling
Scikit-learn — split, scaling, PCA, SVC, metrics
Qiskit — quantum circuits
Qiskit Machine Learning — FidelityQuantumKernel + QSVC
Matplotlib — confusion matrix and comparison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074920" cy="438912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709928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B7CFF"/>
                </a:solidFill>
                <a:latin typeface="Aptos"/>
              </a:rPr>
              <a:t>KEY IMPLEMENTATION SNIPPET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121408"/>
            <a:ext cx="4672583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5FA"/>
                </a:solidFill>
                <a:latin typeface="Aptos"/>
              </a:rPr>
              <a:t>feature_map = ZZFeatureMap(
    feature_dimension=4,
    reps=2,
    entanglement="linear"
)
quantum_kernel = FidelityQuantumKernel(
    feature_map=feature_map
)
qsvc = QSVC(
    quantum_kernel=quantum_kernel
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8. Execution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What is demonstrated during the live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1627632" cy="1828800"/>
          </a:xfrm>
          <a:prstGeom prst="roundRect">
            <a:avLst/>
          </a:prstGeom>
          <a:solidFill>
            <a:srgbClr val="141C2E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2039112"/>
            <a:ext cx="1481328" cy="1682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Run
python main.py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30552" y="2880360"/>
            <a:ext cx="310896" cy="0"/>
          </a:xfrm>
          <a:prstGeom prst="line">
            <a:avLst/>
          </a:prstGeom>
          <a:ln w="2540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41448" y="1965960"/>
            <a:ext cx="1627632" cy="1828800"/>
          </a:xfrm>
          <a:prstGeom prst="roundRect">
            <a:avLst/>
          </a:prstGeom>
          <a:solidFill>
            <a:srgbClr val="141C2E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4600" y="2039112"/>
            <a:ext cx="1481328" cy="1682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Input
303 × 13
Heart Disease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9080" y="2880360"/>
            <a:ext cx="310896" cy="0"/>
          </a:xfrm>
          <a:prstGeom prst="line">
            <a:avLst/>
          </a:prstGeom>
          <a:ln w="2540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79976" y="1965960"/>
            <a:ext cx="1627632" cy="1828800"/>
          </a:xfrm>
          <a:prstGeom prst="roundRect">
            <a:avLst/>
          </a:prstGeom>
          <a:solidFill>
            <a:srgbClr val="141C2E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2039112"/>
            <a:ext cx="1481328" cy="1682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Preprocess
Clean → split → scale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07608" y="2880360"/>
            <a:ext cx="310896" cy="0"/>
          </a:xfrm>
          <a:prstGeom prst="line">
            <a:avLst/>
          </a:prstGeom>
          <a:ln w="2540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18504" y="1965960"/>
            <a:ext cx="1627632" cy="1828800"/>
          </a:xfrm>
          <a:prstGeom prst="roundRect">
            <a:avLst/>
          </a:prstGeom>
          <a:solidFill>
            <a:srgbClr val="141C2E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6" y="2039112"/>
            <a:ext cx="1481328" cy="1682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Reduce
PCA: 13 → 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46136" y="2880360"/>
            <a:ext cx="310896" cy="0"/>
          </a:xfrm>
          <a:prstGeom prst="line">
            <a:avLst/>
          </a:prstGeom>
          <a:ln w="2540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57032" y="1965960"/>
            <a:ext cx="1627632" cy="1828800"/>
          </a:xfrm>
          <a:prstGeom prst="roundRect">
            <a:avLst/>
          </a:prstGeom>
          <a:solidFill>
            <a:srgbClr val="141C2E"/>
          </a:solidFill>
          <a:ln>
            <a:solidFill>
              <a:srgbClr val="FFB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4" y="2039112"/>
            <a:ext cx="1481328" cy="1682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Models
SVC + QSVC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84664" y="2880360"/>
            <a:ext cx="310896" cy="0"/>
          </a:xfrm>
          <a:prstGeom prst="line">
            <a:avLst/>
          </a:prstGeom>
          <a:ln w="2540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195560" y="1965960"/>
            <a:ext cx="1627632" cy="1828800"/>
          </a:xfrm>
          <a:prstGeom prst="roundRect">
            <a:avLst/>
          </a:prstGeom>
          <a:solidFill>
            <a:srgbClr val="141C2E"/>
          </a:solidFill>
          <a:ln>
            <a:solidFill>
              <a:srgbClr val="6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68712" y="2039112"/>
            <a:ext cx="1481328" cy="1682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Output
Metrics + matrix + graph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4343400"/>
            <a:ext cx="9326880" cy="91440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18488" y="4498848"/>
            <a:ext cx="8924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B15C"/>
                </a:solidFill>
                <a:latin typeface="Aptos"/>
              </a:rPr>
              <a:t>IMPORTANT EXPERIMENTAL DETAIL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" y="4910328"/>
            <a:ext cx="89245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5FA"/>
                </a:solidFill>
                <a:latin typeface="Aptos"/>
              </a:rPr>
              <a:t>Both SVC and QSVC use the same stratified 120-sample training subset; the same 61-sample test set is retained for evaluation.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9.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Final matched-run results: 120 training samples per model and 61 test samples.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743200" cy="566928"/>
          </a:xfrm>
          <a:prstGeom prst="roundRect">
            <a:avLst/>
          </a:prstGeom>
          <a:solidFill>
            <a:srgbClr val="141C2E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73352"/>
            <a:ext cx="2596896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2F5FA"/>
                </a:solidFill>
                <a:latin typeface="Aptos"/>
              </a:rPr>
              <a:t>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600200"/>
            <a:ext cx="2743200" cy="566928"/>
          </a:xfrm>
          <a:prstGeom prst="roundRect">
            <a:avLst/>
          </a:prstGeom>
          <a:solidFill>
            <a:srgbClr val="141C2E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96512" y="1673352"/>
            <a:ext cx="2596896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2F5FA"/>
                </a:solidFill>
                <a:latin typeface="Aptos"/>
              </a:rPr>
              <a:t>Classical SVC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600200"/>
            <a:ext cx="2743200" cy="566928"/>
          </a:xfrm>
          <a:prstGeom prst="roundRect">
            <a:avLst/>
          </a:prstGeom>
          <a:solidFill>
            <a:srgbClr val="141C2E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68312" y="1673352"/>
            <a:ext cx="2596896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2F5FA"/>
                </a:solidFill>
                <a:latin typeface="Aptos"/>
              </a:rPr>
              <a:t>QSVC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2743200" cy="512064"/>
          </a:xfrm>
          <a:prstGeom prst="roundRect">
            <a:avLst/>
          </a:prstGeom>
          <a:solidFill>
            <a:srgbClr val="141C2E"/>
          </a:solidFill>
          <a:ln>
            <a:solidFill>
              <a:srgbClr val="46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404872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331720"/>
            <a:ext cx="2743200" cy="512064"/>
          </a:xfrm>
          <a:prstGeom prst="roundRect">
            <a:avLst/>
          </a:prstGeom>
          <a:solidFill>
            <a:srgbClr val="141C2E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96512" y="2404872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2F5FA"/>
                </a:solidFill>
                <a:latin typeface="Aptos"/>
              </a:rPr>
              <a:t>88.52%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2331720"/>
            <a:ext cx="2743200" cy="512064"/>
          </a:xfrm>
          <a:prstGeom prst="roundRect">
            <a:avLst/>
          </a:prstGeom>
          <a:solidFill>
            <a:srgbClr val="141C2E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68312" y="2404872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2F5FA"/>
                </a:solidFill>
                <a:latin typeface="Aptos"/>
              </a:rPr>
              <a:t>44.26%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44952"/>
            <a:ext cx="2743200" cy="512064"/>
          </a:xfrm>
          <a:prstGeom prst="roundRect">
            <a:avLst/>
          </a:prstGeom>
          <a:solidFill>
            <a:srgbClr val="141C2E"/>
          </a:solidFill>
          <a:ln>
            <a:solidFill>
              <a:srgbClr val="46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118104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Precision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3044952"/>
            <a:ext cx="2743200" cy="512064"/>
          </a:xfrm>
          <a:prstGeom prst="roundRect">
            <a:avLst/>
          </a:prstGeom>
          <a:solidFill>
            <a:srgbClr val="141C2E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96512" y="3118104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2F5FA"/>
                </a:solidFill>
                <a:latin typeface="Aptos"/>
              </a:rPr>
              <a:t>86.21%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3044952"/>
            <a:ext cx="2743200" cy="512064"/>
          </a:xfrm>
          <a:prstGeom prst="roundRect">
            <a:avLst/>
          </a:prstGeom>
          <a:solidFill>
            <a:srgbClr val="141C2E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68312" y="3118104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2F5FA"/>
                </a:solidFill>
                <a:latin typeface="Aptos"/>
              </a:rPr>
              <a:t>31.25%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58183"/>
            <a:ext cx="2743200" cy="512064"/>
          </a:xfrm>
          <a:prstGeom prst="roundRect">
            <a:avLst/>
          </a:prstGeom>
          <a:solidFill>
            <a:srgbClr val="141C2E"/>
          </a:solidFill>
          <a:ln>
            <a:solidFill>
              <a:srgbClr val="46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831335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Recall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3758183"/>
            <a:ext cx="2743200" cy="512064"/>
          </a:xfrm>
          <a:prstGeom prst="roundRect">
            <a:avLst/>
          </a:prstGeom>
          <a:solidFill>
            <a:srgbClr val="141C2E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96512" y="3831335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2F5FA"/>
                </a:solidFill>
                <a:latin typeface="Aptos"/>
              </a:rPr>
              <a:t>89.29%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3758183"/>
            <a:ext cx="2743200" cy="512064"/>
          </a:xfrm>
          <a:prstGeom prst="roundRect">
            <a:avLst/>
          </a:prstGeom>
          <a:solidFill>
            <a:srgbClr val="141C2E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68312" y="3831335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2F5FA"/>
                </a:solidFill>
                <a:latin typeface="Aptos"/>
              </a:rPr>
              <a:t>17.86%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471416"/>
            <a:ext cx="2743200" cy="512064"/>
          </a:xfrm>
          <a:prstGeom prst="roundRect">
            <a:avLst/>
          </a:prstGeom>
          <a:solidFill>
            <a:srgbClr val="141C2E"/>
          </a:solidFill>
          <a:ln>
            <a:solidFill>
              <a:srgbClr val="46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4544568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2F5FA"/>
                </a:solidFill>
                <a:latin typeface="Aptos"/>
              </a:rPr>
              <a:t>F1 Score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60" y="4471416"/>
            <a:ext cx="2743200" cy="512064"/>
          </a:xfrm>
          <a:prstGeom prst="roundRect">
            <a:avLst/>
          </a:prstGeom>
          <a:solidFill>
            <a:srgbClr val="141C2E"/>
          </a:solidFill>
          <a:ln>
            <a:solidFill>
              <a:srgbClr val="48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96512" y="4544568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2F5FA"/>
                </a:solidFill>
                <a:latin typeface="Aptos"/>
              </a:rPr>
              <a:t>87.72%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4471416"/>
            <a:ext cx="2743200" cy="512064"/>
          </a:xfrm>
          <a:prstGeom prst="roundRect">
            <a:avLst/>
          </a:prstGeom>
          <a:solidFill>
            <a:srgbClr val="141C2E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68312" y="4544568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2F5FA"/>
                </a:solidFill>
                <a:latin typeface="Aptos"/>
              </a:rPr>
              <a:t>22.73%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4068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Final values from the latest matched SVC–QSVC experiment.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10. 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086345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QSVC classification on the held-out test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55648" y="1560890"/>
            <a:ext cx="4673432" cy="2379514"/>
          </a:xfrm>
          <a:prstGeom prst="roundRect">
            <a:avLst/>
          </a:prstGeom>
          <a:solidFill>
            <a:srgbClr val="141C2E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55648" y="1613869"/>
            <a:ext cx="4160520" cy="1930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86200" y="130009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EBBD0"/>
                </a:solidFill>
                <a:latin typeface="Aptos"/>
              </a:rPr>
              <a:t>Predicted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0168" y="169805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EBBD0"/>
                </a:solidFill>
                <a:latin typeface="Aptos"/>
              </a:rPr>
              <a:t>No Disease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1768" y="169805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EBBD0"/>
                </a:solidFill>
                <a:latin typeface="Aptos"/>
              </a:rPr>
              <a:t>Disease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2101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EBBD0"/>
                </a:solidFill>
                <a:latin typeface="Aptos"/>
              </a:rPr>
              <a:t>Actual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72968" y="2155250"/>
            <a:ext cx="1097280" cy="685800"/>
          </a:xfrm>
          <a:prstGeom prst="roundRect">
            <a:avLst/>
          </a:prstGeom>
          <a:solidFill>
            <a:srgbClr val="141C2E"/>
          </a:solidFill>
          <a:ln>
            <a:solidFill>
              <a:srgbClr val="6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2298095"/>
            <a:ext cx="950976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2F5FA"/>
                </a:solidFill>
                <a:latin typeface="Aptos"/>
              </a:rPr>
              <a:t>22</a:t>
            </a:r>
            <a:endParaRPr sz="2000" b="1" dirty="0">
              <a:solidFill>
                <a:srgbClr val="F2F5FA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44568" y="2155250"/>
            <a:ext cx="1097280" cy="685800"/>
          </a:xfrm>
          <a:prstGeom prst="roundRect">
            <a:avLst/>
          </a:prstGeom>
          <a:solidFill>
            <a:srgbClr val="141C2E"/>
          </a:solidFill>
          <a:ln>
            <a:solidFill>
              <a:srgbClr val="FF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298095"/>
            <a:ext cx="950976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2F5FA"/>
                </a:solidFill>
                <a:latin typeface="Aptos"/>
              </a:rPr>
              <a:t>11</a:t>
            </a:r>
            <a:endParaRPr sz="2000" b="1" dirty="0">
              <a:solidFill>
                <a:srgbClr val="F2F5F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172968" y="3161090"/>
            <a:ext cx="1097280" cy="685800"/>
          </a:xfrm>
          <a:prstGeom prst="roundRect">
            <a:avLst/>
          </a:prstGeom>
          <a:solidFill>
            <a:srgbClr val="141C2E"/>
          </a:solidFill>
          <a:ln>
            <a:solidFill>
              <a:srgbClr val="FF6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3303935"/>
            <a:ext cx="950976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2F5FA"/>
                </a:solidFill>
                <a:latin typeface="Aptos"/>
              </a:rPr>
              <a:t>23</a:t>
            </a:r>
            <a:endParaRPr sz="2000" b="1" dirty="0">
              <a:solidFill>
                <a:srgbClr val="F2F5FA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44568" y="3161090"/>
            <a:ext cx="1097280" cy="685800"/>
          </a:xfrm>
          <a:prstGeom prst="roundRect">
            <a:avLst/>
          </a:prstGeom>
          <a:solidFill>
            <a:srgbClr val="141C2E"/>
          </a:solidFill>
          <a:ln>
            <a:solidFill>
              <a:srgbClr val="6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303935"/>
            <a:ext cx="950976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2F5FA"/>
                </a:solidFill>
                <a:latin typeface="Aptos"/>
              </a:rPr>
              <a:t>05</a:t>
            </a:r>
            <a:endParaRPr sz="2000" b="1" dirty="0">
              <a:solidFill>
                <a:srgbClr val="F2F5F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2592" y="1536852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22592" y="2259511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11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7F40F10-B0B2-12D7-FA53-505113609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620" y="3633874"/>
            <a:ext cx="4017772" cy="30174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11.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SVC vs QSVC — based on the same held-out test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57800" cy="416052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791753"/>
            <a:ext cx="4855464" cy="25853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2F5FA"/>
                </a:solidFill>
                <a:latin typeface="Aptos"/>
              </a:rPr>
              <a:t>
1.SVC_vs_QSVC_Heart_Disease_Comparison.png
2. Final metric table from Heart_Disease_QML_Results.csv
Compare accuracy, precision, recall and F1-score using the same matched training subset and held-out test 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074920" cy="416052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755648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9B7CFF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167128"/>
            <a:ext cx="4672583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F2F5FA"/>
                </a:solidFill>
                <a:latin typeface="Aptos"/>
              </a:rPr>
              <a:t>The experiment demonstrates how a quantum-kernel classifier can be integrated into a standard ML pipeline.
Both models use the same fixed 120-sample training subset for a controlled comparison. Results are interpreted as a proof-of-concept evaluation, not evidence of quantum advantage.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9A2C32-85B3-0D10-35B0-59C25CAAC446}"/>
              </a:ext>
            </a:extLst>
          </p:cNvPr>
          <p:cNvSpPr txBox="1"/>
          <p:nvPr/>
        </p:nvSpPr>
        <p:spPr>
          <a:xfrm>
            <a:off x="1199562" y="4660711"/>
            <a:ext cx="512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Final Performance Comparison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304E9-698C-57D1-12ED-FE3B19086735}"/>
              </a:ext>
            </a:extLst>
          </p:cNvPr>
          <p:cNvSpPr txBox="1"/>
          <p:nvPr/>
        </p:nvSpPr>
        <p:spPr>
          <a:xfrm>
            <a:off x="7788897" y="466071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Final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7A242-7A51-019B-5110-BA47FFB83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985" y="1042427"/>
            <a:ext cx="4602480" cy="18377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BC4009-2004-A521-8CDF-F7978503E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62" y="739135"/>
            <a:ext cx="4852935" cy="320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97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12. Key Findings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What the implementation demonstrates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57800" cy="438912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09928"/>
            <a:ext cx="48554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3DC9D"/>
                </a:solidFill>
                <a:latin typeface="Aptos"/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21408"/>
            <a:ext cx="4855464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A"/>
                </a:solidFill>
                <a:latin typeface="Aptos"/>
              </a:rPr>
              <a:t>• A complete classical–quantum classification pipeline was implemented.
• PCA reduced the 13-feature input to 4 quantum-ready features.
• FidelityQuantumKernel was integrated with QSVC.
• The same held-out test set is used for evaluation.
• Metrics and confusion matrix provide transparent model assessment.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074920" cy="438912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709928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15C"/>
                </a:solidFill>
                <a:latin typeface="Aptos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121408"/>
            <a:ext cx="4672583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A"/>
                </a:solidFill>
                <a:latin typeface="Aptos"/>
              </a:rPr>
              <a:t>• Dataset size is modest (303 records).
• QSVC simulation is computationally expensive.
• Both models use a fixed 120-sample training subset.
• No claim of clinical validation is made.
• Broader quantum-advantage studies require larger datasets, multiple configurations, and hardware experiments.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5FA"/>
                </a:solidFill>
                <a:latin typeface="Aptos"/>
              </a:rPr>
              <a:t>13. Conclusion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0292"/>
          </a:xfrm>
          <a:prstGeom prst="rect">
            <a:avLst/>
          </a:prstGeom>
          <a:solidFill>
            <a:srgbClr val="48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EBBD0"/>
                </a:solidFill>
                <a:latin typeface="Aptos"/>
              </a:rPr>
              <a:t>From classical medical data to quantum-kernel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03520" cy="452628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664207"/>
            <a:ext cx="49011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3DC9D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4901183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5FA"/>
                </a:solidFill>
                <a:latin typeface="Aptos"/>
              </a:rPr>
              <a:t>The project demonstrates a reproducible hybrid workflow for heart-disease classification.
Classical preprocessing makes the dataset suitable for a compact quantum representation. The Fidelity Quantum Kernel then provides the similarity function used by QSVC.
The implementation establishes a practical foundation for future work with larger datasets, hardware execution, kernel optimization and broader matched classical–quantum benchmarks.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074920" cy="4526280"/>
          </a:xfrm>
          <a:prstGeom prst="roundRect">
            <a:avLst/>
          </a:prstGeom>
          <a:solidFill>
            <a:srgbClr val="141C2E"/>
          </a:solidFill>
          <a:ln>
            <a:solidFill>
              <a:srgbClr val="2A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664207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8D6DA"/>
                </a:solidFill>
                <a:latin typeface="Aptos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075688"/>
            <a:ext cx="4672583" cy="3831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5FA"/>
                </a:solidFill>
                <a:latin typeface="Aptos"/>
              </a:rPr>
              <a:t>1. UCI Machine Learning Repository — Heart Disease Dataset.
   archive.ics.uci.edu/dataset/45/heart+disease
2. Qiskit Machine Learning — FidelityQuantumKernel documentation.
   qiskit-community.github.io/qiskit-machine-learning
3. Qiskit Machine Learning — Quantum Kernel Learning tutorial.
   qiskit-community.github.io/qiskit-machine-learning/tutorials/03_quantum_kernel.html
4. Qiskit Machine Learning — QSVC documentation.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EBBD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1446</Words>
  <Application>Microsoft Office PowerPoint</Application>
  <PresentationFormat>Widescreen</PresentationFormat>
  <Paragraphs>150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sanjay bhaargav</cp:lastModifiedBy>
  <cp:revision>5</cp:revision>
  <dcterms:created xsi:type="dcterms:W3CDTF">2013-01-27T09:14:16Z</dcterms:created>
  <dcterms:modified xsi:type="dcterms:W3CDTF">2026-10-05T06:37:02Z</dcterms:modified>
  <cp:category/>
</cp:coreProperties>
</file>